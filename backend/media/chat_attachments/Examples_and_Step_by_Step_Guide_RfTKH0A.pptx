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A990CD57-825A-4D5F-90D5-612E48920758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  <p14:sldId id="305"/>
            <p14:sldId id="306"/>
            <p14:sldId id="307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9CC628-D5E2-4372-B55F-22ADDABE2211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D96162-8A63-4C7A-A590-CF9CBC2FFF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0650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D96162-8A63-4C7A-A590-CF9CBC2FFF8F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4807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69520-283E-ECE9-C88C-D30C986992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18ED5E-8C1F-31ED-88FD-D31E3F7ECD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8B54E2-657F-E259-06E7-8FE54CAC6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96346-7A41-457E-A1DA-6B65F1F6F461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BD7B98-0FE8-C84E-98CD-93E5AF12F6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E92979-00FC-535D-E4CF-14D46ABE1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DAB3F-A4F4-4C24-A5A0-16FA763441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5641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6E9B2-3515-A89F-0A40-A1F934FE6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F3F8C6-5C66-6DAA-7419-2CDA00C63B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FD5BA2-18B8-2692-1E7E-A80F851DB4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96346-7A41-457E-A1DA-6B65F1F6F461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3FF656-32FF-9D8C-C1EF-CE043DF6D4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F4A836-DC45-9E86-3BB1-C6EBC1346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DAB3F-A4F4-4C24-A5A0-16FA763441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9505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C2EC4-181F-4E30-58D3-33C34359A9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E5C9A2-2EAA-255A-B521-33CDDC4DB8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676DC-BB73-53F0-FB0B-66F1D544F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96346-7A41-457E-A1DA-6B65F1F6F461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1D1194-79D8-3EE0-19D0-0D3F55F8E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790E1C-4BDA-8774-AD43-DC4966F2F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DAB3F-A4F4-4C24-A5A0-16FA763441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1704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8C7B7-C255-D417-F8E0-81E6BACF6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720E98-AE8D-13A4-B3B3-190211DEC6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F2DAE1-8CFA-5720-8A4E-639CF159C1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8E9E7A-EC01-55A6-A61B-261D3F68F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96346-7A41-457E-A1DA-6B65F1F6F461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CCE264-36E7-B36E-A3FF-0F692BBB3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B51A1A-6854-2208-625F-EF5D72699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DAB3F-A4F4-4C24-A5A0-16FA763441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9038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34C66-CA43-E81F-FD74-6FDCB9A08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81E2E8-8970-1F5F-E824-6201787F5B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6A5633-13BE-E506-7A3C-2DD57A9729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20A768-5D4F-9146-41C7-00BE6F3CDC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9CE70D-7E02-2554-EEBF-DD0A62FD69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E9BD66-999E-7A15-DD2E-1B74B741E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96346-7A41-457E-A1DA-6B65F1F6F461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2A6629F-6B71-3A62-F854-5F053AFF3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B9F7A1-266A-A267-2AA0-DAAE463AE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DAB3F-A4F4-4C24-A5A0-16FA763441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2521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5A49B-E470-5568-C328-10284ECB4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1065DB-B05A-6175-8832-798B9BB3B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96346-7A41-457E-A1DA-6B65F1F6F461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61CA27-84C8-2583-E15B-29F8532491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8ABBE9-AF53-F8F4-C0F7-C8CC6CCC6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DAB3F-A4F4-4C24-A5A0-16FA763441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1240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29FC43-D29E-47B3-CC87-25F15E075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96346-7A41-457E-A1DA-6B65F1F6F461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761EC6-9507-1AB8-0E2D-D253DA5CF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A75F13-1237-8A74-DF39-A3855E3BA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DAB3F-A4F4-4C24-A5A0-16FA763441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732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1B6C9E-6A25-E96F-3888-133AB959D5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F52970-E4C5-A569-DAD7-09F3E30ED4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1BC51C-5CD1-D6CE-39AB-DED92AC73A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618555-6B7D-94F0-E1E5-DD25104F9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96346-7A41-457E-A1DA-6B65F1F6F461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5BEBAC-96C8-AB6D-EA93-BF4F00EC9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88AD35-B778-6A23-9D3C-4620240B9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DAB3F-A4F4-4C24-A5A0-16FA763441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1818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1E06F-9CA8-9483-7325-756715146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ECF8FC9-23A1-320A-C830-51D03E557F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68016E-DF9F-4C8D-1286-54668443F8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112BFA-FCAC-9BB6-5873-68F05188E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96346-7A41-457E-A1DA-6B65F1F6F461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42D357-E671-90F2-F0F0-712DF65F4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342240-B849-3C19-5482-986768A90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DAB3F-A4F4-4C24-A5A0-16FA763441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3571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F6B5C-5DEF-FF37-21F8-DD2E1BF06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94CBDF-A3C7-FD5F-C66D-79EC336486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916644-4B70-DD05-7A97-7568EA50D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96346-7A41-457E-A1DA-6B65F1F6F461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123CC2-1AD9-A9D7-E9DE-FEB8200FE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1A86FD-4D2D-6F3A-2360-51E5BD465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DAB3F-A4F4-4C24-A5A0-16FA763441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2819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CEDE188-D2D6-9AE3-F343-DC6DECB85E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560C21-DC48-9AD8-C93C-89DADB808A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B005AA-DED1-61B7-51CD-6969CD98C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96346-7A41-457E-A1DA-6B65F1F6F461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E9A5CE-B3BD-65F8-9A23-C25B94B79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CA596A-EB17-E44E-58BA-8B1C0FEAE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DAB3F-A4F4-4C24-A5A0-16FA763441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3006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7DBF1C4-A83A-49D2-05E9-4B3F8AF51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47C14C-1D04-F627-AE5D-08803EC1E2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1E9A5C-01F3-8F58-0F7C-B8E77D1AF5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E96346-7A41-457E-A1DA-6B65F1F6F461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89D0D0-C0E4-3A1E-BDFF-27E90CB9CD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2E9D86-ED5A-3B7B-D106-6BEA293561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ADAB3F-A4F4-4C24-A5A0-16FA763441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1931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FA1308-6E6D-0D90-883D-21E82BC55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137075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dirty="0"/>
              <a:t>Python : Decision Making and Looping</a:t>
            </a:r>
            <a:br>
              <a:rPr lang="en-US" dirty="0"/>
            </a:br>
            <a:br>
              <a:rPr lang="en-US" dirty="0"/>
            </a:br>
            <a:br>
              <a:rPr lang="en-US" sz="5300" dirty="0"/>
            </a:br>
            <a:r>
              <a:rPr lang="en-US" sz="1300" dirty="0"/>
              <a:t>Compiled By Madalane Oscar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11F61A-65B1-3109-A80D-2591CB310E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6058" y="3429000"/>
            <a:ext cx="791851" cy="7837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93B89A6-E8A9-EA80-A23A-A99325A82C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1339" y="0"/>
            <a:ext cx="3629320" cy="3629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2011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7CD68-8DF0-EEBC-A9D0-D1E982887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Decision Making Statement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9DA40A6-BD24-2FCC-6EB1-5B48D858F7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58300" y="1825625"/>
            <a:ext cx="427539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65157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C501B-DFD1-FD2B-22BE-75633C434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if-</a:t>
            </a:r>
            <a:r>
              <a:rPr lang="en-US" b="1" dirty="0" err="1"/>
              <a:t>elif</a:t>
            </a:r>
            <a:r>
              <a:rPr lang="en-US" b="1" dirty="0"/>
              <a:t>-else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4680C62-E2F5-7A6E-65F2-DE98987579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04334" y="1825625"/>
            <a:ext cx="798333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3431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2C29E-B46B-52CF-88D3-C1AAC3AF64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if-else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CEF5766-BA1E-CB92-FB1B-BAB77862D4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23773" y="1993250"/>
            <a:ext cx="7544454" cy="4016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3085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1145E-3AC1-AFC9-63BF-5CCFCA0AB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if-</a:t>
            </a:r>
            <a:r>
              <a:rPr lang="en-US" b="1" dirty="0" err="1"/>
              <a:t>elif</a:t>
            </a:r>
            <a:r>
              <a:rPr lang="en-US" b="1" dirty="0"/>
              <a:t>-else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A1BE624-8878-A5CF-45EC-43EA1ABC8E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00034" y="2427033"/>
            <a:ext cx="8542760" cy="3261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4804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3394C-DB5D-5CBF-B5DE-34B8BB1CE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Condition in if-else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7EDFEC-A3F9-10FB-E340-4E26365DC1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10466"/>
            <a:ext cx="10515600" cy="4351338"/>
          </a:xfrm>
        </p:spPr>
        <p:txBody>
          <a:bodyPr/>
          <a:lstStyle/>
          <a:p>
            <a:r>
              <a:rPr lang="en-US" dirty="0"/>
              <a:t>The condition in if-statement is parenthesis free.</a:t>
            </a:r>
          </a:p>
          <a:p>
            <a:r>
              <a:rPr lang="en-US" dirty="0"/>
              <a:t>The condition can have ‘and’ and ‘or’ operator. </a:t>
            </a:r>
          </a:p>
          <a:p>
            <a:r>
              <a:rPr lang="en-US" dirty="0"/>
              <a:t>It should end with a colon.</a:t>
            </a:r>
          </a:p>
          <a:p>
            <a:r>
              <a:rPr lang="en-US" dirty="0"/>
              <a:t>It must return either True or False. </a:t>
            </a:r>
          </a:p>
          <a:p>
            <a:r>
              <a:rPr lang="en-US" dirty="0"/>
              <a:t>The zero value is considered as False otherwise True.</a:t>
            </a:r>
          </a:p>
          <a:p>
            <a:pPr marL="0" indent="0">
              <a:buNone/>
            </a:pPr>
            <a:r>
              <a:rPr lang="en-US" dirty="0"/>
              <a:t> – Example: </a:t>
            </a:r>
          </a:p>
          <a:p>
            <a:pPr marL="0" indent="0">
              <a:buNone/>
            </a:pPr>
            <a:r>
              <a:rPr lang="en-US" dirty="0"/>
              <a:t>    if True:</a:t>
            </a:r>
          </a:p>
        </p:txBody>
      </p:sp>
    </p:spTree>
    <p:extLst>
      <p:ext uri="{BB962C8B-B14F-4D97-AF65-F5344CB8AC3E}">
        <p14:creationId xmlns:p14="http://schemas.microsoft.com/office/powerpoint/2010/main" val="30069137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14142-DD1F-7D10-F2BD-DCBBD183F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A5A62C-DD81-57CF-C6E9-D815EB2973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Write a program to read a number from user and find whether number is odd or even.</a:t>
            </a:r>
          </a:p>
        </p:txBody>
      </p:sp>
    </p:spTree>
    <p:extLst>
      <p:ext uri="{BB962C8B-B14F-4D97-AF65-F5344CB8AC3E}">
        <p14:creationId xmlns:p14="http://schemas.microsoft.com/office/powerpoint/2010/main" val="20547113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21B1A-54A8-1180-3FC7-533DAE65D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Nesting of if-else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4666D3-3F34-2682-55BD-765C460C42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Example: Read three numbers from keyboard and find largest of them. You are not allowed to use ‘and’ and ‘or’ operators.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06368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FC1D54-58C2-A65B-F8D4-A7A2A429E5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3DAC8BD-5146-9ECA-16B5-3F50541A16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68165" y="1674377"/>
            <a:ext cx="7600364" cy="4502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83376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577AD-3A87-9431-DA65-FB13CEE6E3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3ECEA4-E0BE-4E68-3CE2-2EF55A4A51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Read an year and find whether that year is leap or not? </a:t>
            </a:r>
          </a:p>
          <a:p>
            <a:r>
              <a:rPr lang="en-US" dirty="0"/>
              <a:t>Conditions for being leap year: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– It should be divisible by four. 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 – If its a century year, it should be divisible by 400 also.</a:t>
            </a:r>
          </a:p>
        </p:txBody>
      </p:sp>
    </p:spTree>
    <p:extLst>
      <p:ext uri="{BB962C8B-B14F-4D97-AF65-F5344CB8AC3E}">
        <p14:creationId xmlns:p14="http://schemas.microsoft.com/office/powerpoint/2010/main" val="13886985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BD673A-7918-F6C6-3174-CADC3E361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Solution: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CF5136A-829D-006E-3194-0039BCC052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45000" y="1825625"/>
            <a:ext cx="730200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4639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055520-3815-8B5D-DBC6-436EB8131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‘and’ and ‘or’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4FCD538-615D-4A8B-316A-C38DB79BA8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786731"/>
            <a:ext cx="8664691" cy="2034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3956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3486B-217F-77E1-6FF9-F3DB65E2B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Repeatable </a:t>
            </a:r>
            <a:r>
              <a:rPr lang="en-US" dirty="0" err="1"/>
              <a:t>elif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DC129C-5E1D-4D4D-71E4-BBCE3F53B0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Read marks in percentages from student and find the grade of it as per below condition: 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– Above 75% : ‘Distinction’ 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– 60% to below 75%: ‘First </a:t>
            </a:r>
            <a:r>
              <a:rPr lang="en-US" dirty="0" err="1">
                <a:solidFill>
                  <a:srgbClr val="FF0000"/>
                </a:solidFill>
              </a:rPr>
              <a:t>Class’</a:t>
            </a:r>
            <a:r>
              <a:rPr lang="en-US" dirty="0">
                <a:solidFill>
                  <a:srgbClr val="FF0000"/>
                </a:solidFill>
              </a:rPr>
              <a:t> 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– 50% to below 60%: ‘Second </a:t>
            </a:r>
            <a:r>
              <a:rPr lang="en-US" dirty="0" err="1">
                <a:solidFill>
                  <a:srgbClr val="FF0000"/>
                </a:solidFill>
              </a:rPr>
              <a:t>Class’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– 40% to below 50%: ‘Pass </a:t>
            </a:r>
            <a:r>
              <a:rPr lang="en-US" dirty="0" err="1">
                <a:solidFill>
                  <a:srgbClr val="FF0000"/>
                </a:solidFill>
              </a:rPr>
              <a:t>Class’</a:t>
            </a:r>
            <a:r>
              <a:rPr lang="en-US" dirty="0">
                <a:solidFill>
                  <a:srgbClr val="FF0000"/>
                </a:solidFill>
              </a:rPr>
              <a:t>  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– Below 40%: ‘Failed’</a:t>
            </a:r>
          </a:p>
        </p:txBody>
      </p:sp>
    </p:spTree>
    <p:extLst>
      <p:ext uri="{BB962C8B-B14F-4D97-AF65-F5344CB8AC3E}">
        <p14:creationId xmlns:p14="http://schemas.microsoft.com/office/powerpoint/2010/main" val="21980133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3D2B8-4086-DF22-9C6C-B90518271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4459149-1A64-18F7-6DA1-D5974B5324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59297" y="1787918"/>
            <a:ext cx="747340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2380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68E4A-DA49-500D-CFA3-10A0D9613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Another way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683EC6B-D925-02E2-BF94-EDA1139E02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88637" y="1835052"/>
            <a:ext cx="74261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66416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96F56-BC9B-A747-D11A-618E06DC9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menu based programs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29D5E1-78CC-B091-D610-81B2B91FA3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Python does not have switch-case statement. So menu based programs are created simply using if-</a:t>
            </a:r>
            <a:r>
              <a:rPr lang="en-US" dirty="0" err="1"/>
              <a:t>elif</a:t>
            </a:r>
            <a:r>
              <a:rPr lang="en-US" dirty="0"/>
              <a:t>-else. </a:t>
            </a:r>
          </a:p>
          <a:p>
            <a:r>
              <a:rPr lang="en-US" dirty="0"/>
              <a:t>Example: </a:t>
            </a:r>
          </a:p>
          <a:p>
            <a:pPr marL="0" indent="0">
              <a:buNone/>
            </a:pPr>
            <a:r>
              <a:rPr lang="en-US" dirty="0"/>
              <a:t> – Read a number from user and do the following by showing menu: 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Find its square 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Find cube 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Check odd / even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Check positive / negative</a:t>
            </a:r>
          </a:p>
        </p:txBody>
      </p:sp>
    </p:spTree>
    <p:extLst>
      <p:ext uri="{BB962C8B-B14F-4D97-AF65-F5344CB8AC3E}">
        <p14:creationId xmlns:p14="http://schemas.microsoft.com/office/powerpoint/2010/main" val="27720026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8058F-9526-11F6-D305-5BE6A2F1C1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EF921A9-0200-8CA7-F95D-E5FD6ED631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02909" y="1574276"/>
            <a:ext cx="6193741" cy="4621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0961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A2835-652A-0EAC-A1E8-1F7876A57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2B1280-4A4D-2A47-305E-4F238B6DC6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Write a Python program to calculate profit or loss. Input is selling cost and actual cost. </a:t>
            </a:r>
          </a:p>
          <a:p>
            <a:r>
              <a:rPr lang="en-US" dirty="0"/>
              <a:t>Write a Python program to check whether a character is uppercase or lowercase alphabet. </a:t>
            </a:r>
          </a:p>
          <a:p>
            <a:r>
              <a:rPr lang="en-US" dirty="0"/>
              <a:t>Write a Python program to input electricity unit charges and calculate total electricity bill according to the given condition: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solidFill>
                  <a:srgbClr val="FF0000"/>
                </a:solidFill>
              </a:rPr>
              <a:t>– For first 50 units Rs. 0.50/unit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	– For next 100 units Rs. 0.75/unit 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	– For next 100 units Rs. 1.25/unit 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	– For unit above 250 Rs. 1.50/unit 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	– An additional surcharge of 17% is added to the bill</a:t>
            </a:r>
          </a:p>
        </p:txBody>
      </p:sp>
    </p:spTree>
    <p:extLst>
      <p:ext uri="{BB962C8B-B14F-4D97-AF65-F5344CB8AC3E}">
        <p14:creationId xmlns:p14="http://schemas.microsoft.com/office/powerpoint/2010/main" val="18656233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86E80-4192-2175-7779-EE2E0FF5B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685945-4DF1-8ACC-A784-CC0513C32F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Input -&gt; basic salary </a:t>
            </a:r>
          </a:p>
          <a:p>
            <a:r>
              <a:rPr lang="en-US" dirty="0"/>
              <a:t>Output -&gt; gross salary</a:t>
            </a:r>
          </a:p>
          <a:p>
            <a:pPr marL="0" indent="0">
              <a:buNone/>
            </a:pPr>
            <a:r>
              <a:rPr lang="en-US" dirty="0"/>
              <a:t>	DA = 75% of basic </a:t>
            </a:r>
          </a:p>
          <a:p>
            <a:pPr marL="0" indent="0">
              <a:buNone/>
            </a:pPr>
            <a:r>
              <a:rPr lang="en-US" dirty="0"/>
              <a:t>	HRA = 20% of basic </a:t>
            </a:r>
          </a:p>
          <a:p>
            <a:r>
              <a:rPr lang="en-US" dirty="0"/>
              <a:t>Conditions: </a:t>
            </a:r>
          </a:p>
          <a:p>
            <a:pPr marL="0" indent="0">
              <a:buNone/>
            </a:pPr>
            <a:r>
              <a:rPr lang="en-US" dirty="0"/>
              <a:t>&lt; 10000 : gross = da + basic </a:t>
            </a:r>
          </a:p>
          <a:p>
            <a:pPr marL="0" indent="0">
              <a:buNone/>
            </a:pPr>
            <a:r>
              <a:rPr lang="en-US" dirty="0"/>
              <a:t>&gt;= 10000 and &lt; 20000 : gross = da + basic + 50% of </a:t>
            </a:r>
            <a:r>
              <a:rPr lang="en-US" dirty="0" err="1"/>
              <a:t>hra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&gt;= 20000 : gross = basic + da + </a:t>
            </a:r>
            <a:r>
              <a:rPr lang="en-US" dirty="0" err="1"/>
              <a:t>hra</a:t>
            </a:r>
            <a:r>
              <a:rPr lang="en-US" dirty="0"/>
              <a:t> </a:t>
            </a:r>
          </a:p>
          <a:p>
            <a:r>
              <a:rPr lang="en-US" dirty="0"/>
              <a:t>Sample: Input and Output </a:t>
            </a:r>
          </a:p>
          <a:p>
            <a:pPr marL="0" indent="0">
              <a:buNone/>
            </a:pPr>
            <a:r>
              <a:rPr lang="en-US" dirty="0"/>
              <a:t>5000 : 3750 + 5000 = 8750 </a:t>
            </a:r>
          </a:p>
          <a:p>
            <a:pPr marL="0" indent="0">
              <a:buNone/>
            </a:pPr>
            <a:r>
              <a:rPr lang="en-US" dirty="0"/>
              <a:t>12000 : 9000 + 12000 + 1200 = 22200 </a:t>
            </a:r>
          </a:p>
          <a:p>
            <a:pPr marL="0" indent="0">
              <a:buNone/>
            </a:pPr>
            <a:r>
              <a:rPr lang="en-US" dirty="0"/>
              <a:t>24000 : 18000 + 24000 + 4800 = 46800</a:t>
            </a:r>
          </a:p>
        </p:txBody>
      </p:sp>
    </p:spTree>
    <p:extLst>
      <p:ext uri="{BB962C8B-B14F-4D97-AF65-F5344CB8AC3E}">
        <p14:creationId xmlns:p14="http://schemas.microsoft.com/office/powerpoint/2010/main" val="32043612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76563-375E-3EED-5A8A-5CEC0C1FB5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Loops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E2C11F6-5550-BC3C-D244-757D1D1F58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54256" y="2031353"/>
            <a:ext cx="7483488" cy="3939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37521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D6745-8B67-9EA4-3C3C-C8DAB1673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while loop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82C3CFF-2A0C-E2C3-5EB9-8819EE50B2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20047" y="2667678"/>
            <a:ext cx="6751905" cy="2667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92561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864BE-CC66-6DAF-9326-9009F5A59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Example-1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77246B-B520-F244-D03E-DAD90AD581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Print your name for 10 number of times.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CCD39D-0244-10B9-48F6-264E6FC17F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463797"/>
            <a:ext cx="8443692" cy="2156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75156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C842B-F4BB-F04F-45B5-7967B85401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8BEA6C-6959-07E2-439C-157E293F98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Find addition of first ten natural numbers. That is, find addition of numbers from 1 to 10.</a:t>
            </a:r>
          </a:p>
        </p:txBody>
      </p:sp>
    </p:spTree>
    <p:extLst>
      <p:ext uri="{BB962C8B-B14F-4D97-AF65-F5344CB8AC3E}">
        <p14:creationId xmlns:p14="http://schemas.microsoft.com/office/powerpoint/2010/main" val="485075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B8223-1F44-3C16-BF0E-41DF843A91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CBAACED-BAE3-818F-FDCD-66143E94C3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39463" y="1825625"/>
            <a:ext cx="7713073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89501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26A19-09E6-6D57-DE3E-1E10AF506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AA4F6-4273-784A-1389-076619BDEF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Find addition of all the odd numbers from 1 to 20. That is, find addition of numbers 1, 3, 5 … 19.</a:t>
            </a:r>
          </a:p>
        </p:txBody>
      </p:sp>
    </p:spTree>
    <p:extLst>
      <p:ext uri="{BB962C8B-B14F-4D97-AF65-F5344CB8AC3E}">
        <p14:creationId xmlns:p14="http://schemas.microsoft.com/office/powerpoint/2010/main" val="11888212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AA0D9-BB5A-25B0-C68D-8DD3ED826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1B2E4DC-DD94-6FB9-E6F1-97955BD268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01927" y="1863699"/>
            <a:ext cx="6988146" cy="4275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533876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9696C-1280-AA80-B097-D91667EE6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about ‘while’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A9B9282-1E11-DC5E-5363-77D97CEA19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43838" y="2054215"/>
            <a:ext cx="7674005" cy="3894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263953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E7F58-B7D0-004C-5BE5-EAC8B7285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Infinite loop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B23C09-3C2D-1727-5111-FCBB4FFC36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 careful while using a while loop. Because if you forget to increment the counter variable in python, or write flawed logic, the condition may never become false. </a:t>
            </a:r>
          </a:p>
          <a:p>
            <a:r>
              <a:rPr lang="en-US" dirty="0"/>
              <a:t>In such a case, the loop will run infinitely, and the conditions after the loop will starve. </a:t>
            </a:r>
          </a:p>
          <a:p>
            <a:r>
              <a:rPr lang="en-US" dirty="0"/>
              <a:t>To stop execution, press </a:t>
            </a:r>
            <a:r>
              <a:rPr lang="en-US" dirty="0" err="1"/>
              <a:t>Ctrl+C</a:t>
            </a:r>
            <a:r>
              <a:rPr lang="en-US" dirty="0"/>
              <a:t>. However, an infinite loop may actually be useful. </a:t>
            </a:r>
          </a:p>
          <a:p>
            <a:r>
              <a:rPr lang="en-US" dirty="0"/>
              <a:t>While is the only loop where we can make while loop intentionally infinite.</a:t>
            </a:r>
          </a:p>
        </p:txBody>
      </p:sp>
    </p:spTree>
    <p:extLst>
      <p:ext uri="{BB962C8B-B14F-4D97-AF65-F5344CB8AC3E}">
        <p14:creationId xmlns:p14="http://schemas.microsoft.com/office/powerpoint/2010/main" val="36212941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0B5320-F84F-7B29-1E30-280E771F0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8FDB361-24F6-A443-514E-D447C467C5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17479" y="1825625"/>
            <a:ext cx="775704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8308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CD633-FA03-0095-9762-0B509E149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else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11A8F9-70FB-869F-6020-CA119F8024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while loop may have an else statement after it. When the condition becomes false, the block under the else statement is executed. </a:t>
            </a:r>
          </a:p>
          <a:p>
            <a:r>
              <a:rPr lang="en-US" dirty="0"/>
              <a:t>However, it doesn’t execute if you break out of the loop or if an exception is raised.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CFCF41-424A-C020-8EEF-FFB30D4742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633" y="3723110"/>
            <a:ext cx="5616427" cy="2453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621343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2392E0-1397-09AF-AADD-136391B96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Single statement while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08433F-0E50-05D4-E36B-8AA6D9BAAF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can write single statement in while loop. This statements will be separated by semicolon.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77D5A7-F45B-7B1D-E25B-00C1531F4A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136" y="2781988"/>
            <a:ext cx="8199831" cy="1219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470491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C0D62-2193-CD86-EFD3-8F846946D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‘for’ loop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F844EE-E907-8BAA-2DDB-CA68444769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Python for loop can iterate over a sequence or collection of items. </a:t>
            </a:r>
          </a:p>
          <a:p>
            <a:r>
              <a:rPr lang="en-US" dirty="0"/>
              <a:t>The structure of a for loop in Python is different than that in C++ or Java. </a:t>
            </a:r>
          </a:p>
          <a:p>
            <a:r>
              <a:rPr lang="en-US" dirty="0"/>
              <a:t>That is, for(int </a:t>
            </a:r>
            <a:r>
              <a:rPr lang="en-US" dirty="0" err="1"/>
              <a:t>i</a:t>
            </a:r>
            <a:r>
              <a:rPr lang="en-US" dirty="0"/>
              <a:t>=0;i&lt;</a:t>
            </a:r>
            <a:r>
              <a:rPr lang="en-US" dirty="0" err="1"/>
              <a:t>n;i</a:t>
            </a:r>
            <a:r>
              <a:rPr lang="en-US" dirty="0"/>
              <a:t>++) won’t work here. In Python, we use the ‘in’ keyword.</a:t>
            </a:r>
          </a:p>
          <a:p>
            <a:r>
              <a:rPr lang="en-US" dirty="0"/>
              <a:t>Syntax: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4D01B9-FFCB-2B56-E582-FBB7596826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328" y="4652831"/>
            <a:ext cx="7948349" cy="1524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292986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B3EAE-F822-FF70-CF93-FD29700DF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while vs for loop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085B76A-2EC4-EF37-101F-070127617F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73222" y="1927857"/>
            <a:ext cx="8245555" cy="3901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878570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6AF32-6E3B-735C-D0FE-11DE7845C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D7F7528-080C-0B7D-FB01-69A95A4579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41163" y="1825625"/>
            <a:ext cx="7309673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03057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D1575-4E78-9850-A49C-8C68BC992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on ‘for’ loop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6ACE8AB-7C4F-B36B-DBD5-ABF17A8183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44687" y="1962767"/>
            <a:ext cx="7902625" cy="4077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107245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3FCCA-7D56-AD3D-7BE9-345FBD8970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range( )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6CEEFA-0C52-4E68-D6D2-4B98B95287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function yields a sequence of numbers. When called with one argument, say n, it creates a sequence of numbers from 0 to n-1. </a:t>
            </a:r>
          </a:p>
          <a:p>
            <a:r>
              <a:rPr lang="en-US" dirty="0"/>
              <a:t>Example: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7B6467-E954-1B73-6D83-D725024827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342" y="3210291"/>
            <a:ext cx="5921253" cy="3101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15157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4DEEF-EEDE-7CBC-6795-6C7ECF65F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range( ) function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BF49D8C-F00D-F27F-2015-BFF27B6506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57628" y="1825625"/>
            <a:ext cx="647674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766927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63645-F721-AC02-E9F4-A5049E39CF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range( ) decrement operation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A217CCF-C8D0-3280-8BFD-859EC70C19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9084" y="1762657"/>
            <a:ext cx="6111770" cy="1950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691715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158CF-A03C-7E36-5E92-EE27F8210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Iterating through sequence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61839BB-3807-A885-7C38-8D32D8C95B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86628" y="1690688"/>
            <a:ext cx="7018743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656335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CC930-E4B0-698D-1E5C-77878D128F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Collection of strings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EF19654-81BF-A992-F1D1-57930F67B2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52259" y="2068862"/>
            <a:ext cx="7940728" cy="3977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351096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24C8E-7A92-93FB-B236-641E6B4FB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else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AAFE6B-D953-9EDB-E356-3F015D9588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Like a while loop, a for-loop may also have an else statement after it. When the loop is exhausted, the block under the else statement executes.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2BCADC-3297-F98B-1103-FF7018EE0B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830" y="3067734"/>
            <a:ext cx="6805250" cy="3109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85579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948C2-A08F-5941-3FD2-5E19C8B48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260495-9827-B58A-E612-5BDD5DF19E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Print your name 10 times using for loop.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8D5E59-6790-F58B-D75F-25A48467B5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978" y="2323783"/>
            <a:ext cx="5578323" cy="1889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834863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D88E3-86A2-2F0A-D3A1-E499B8F43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CB2D5E-5539-2650-EA8B-81101F1F13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Find addition of first 10 natural numbers using for loop.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4DC6FB-A8C6-504F-E5CC-C0B371E0D8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928" y="2308612"/>
            <a:ext cx="5852667" cy="2994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401282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DA293-5ABC-7B30-ABBF-3A891B7D9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333A51-5998-7478-6E85-19130ABE7D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Find addition of all odd numbers from 1 to 20 using for loop.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9E41DE-C202-DF58-6635-CDDA9C7DF3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609" y="2378188"/>
            <a:ext cx="6485182" cy="2667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856290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CE718-870E-44D5-F295-2CA005999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0A2517-77BD-04F9-3A49-14C929CDA8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Read a number from user and find the factorial of the number. </a:t>
            </a:r>
          </a:p>
          <a:p>
            <a:r>
              <a:rPr lang="en-US" dirty="0"/>
              <a:t>Take a number user input and find sum of digits of this number. </a:t>
            </a:r>
          </a:p>
          <a:p>
            <a:r>
              <a:rPr lang="en-US" dirty="0"/>
              <a:t>Write a program to print all the odd numbers from 10 to 30.</a:t>
            </a:r>
          </a:p>
          <a:p>
            <a:r>
              <a:rPr lang="en-US" dirty="0"/>
              <a:t>Read a number from keyboard and print it in reverse. </a:t>
            </a:r>
          </a:p>
          <a:p>
            <a:r>
              <a:rPr lang="en-US" dirty="0"/>
              <a:t>Write a program to print Fibonacci series up to n terms.</a:t>
            </a:r>
          </a:p>
        </p:txBody>
      </p:sp>
    </p:spTree>
    <p:extLst>
      <p:ext uri="{BB962C8B-B14F-4D97-AF65-F5344CB8AC3E}">
        <p14:creationId xmlns:p14="http://schemas.microsoft.com/office/powerpoint/2010/main" val="216521169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64B24-244C-563B-89E4-3E89894E88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Nesting of loops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36AED2-CD53-2E5C-8E62-790963427B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can also nest a loop inside another. </a:t>
            </a:r>
          </a:p>
          <a:p>
            <a:r>
              <a:rPr lang="en-US" dirty="0"/>
              <a:t>You can put a for loop inside a while, or a while inside a for, or a for inside a for, or a while inside a while. </a:t>
            </a:r>
          </a:p>
          <a:p>
            <a:r>
              <a:rPr lang="en-US" dirty="0"/>
              <a:t>Or you can put a loop inside a loop inside a loop. You can go as far as you want.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7AB75C-C14E-7025-8B11-98F87ECD12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927" y="4213349"/>
            <a:ext cx="5616427" cy="180609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03A8A2D-E34B-DE28-FCC6-312B2D50C2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8967" y="3862379"/>
            <a:ext cx="2286198" cy="2225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910233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43EFB-DA87-6B0B-F383-560C27AFE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Nesting of loops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EB95E33-98FA-6B12-8F52-E329778FED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83201" y="1825625"/>
            <a:ext cx="702559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402143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42C8E-D01A-1D83-8440-B2A4FBFF1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‘break’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270A8C-97F1-CDF2-6CD6-C420D72C80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you put a break statement in the body of a loop, the loop stops executing, and control shifts to the first statement outside it. You can put it in a for or while loop.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101647-7867-DF6C-D05C-B73FA89AD8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198" y="3194264"/>
            <a:ext cx="4930567" cy="1996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90610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73652-EC15-4E62-9503-6B54B48C5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‘continue’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E1015F-079C-5261-21F6-2353991434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the program control reaches the continue statement, it skips the statements after ‘continue’. </a:t>
            </a:r>
          </a:p>
          <a:p>
            <a:r>
              <a:rPr lang="en-US" dirty="0"/>
              <a:t>It then shifts to the next item in the sequence and executes the block of code for it. You can use it with both for and while loops.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CFE8E0-CF98-8893-BEEA-75ECD312C7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4179" y="3851146"/>
            <a:ext cx="8207451" cy="2209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835124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F5B23-9331-F448-AD08-E242C821E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‘pass’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B2B3FC-E9D0-3983-ECD3-427BE5BB77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use the pass statement to implement stubs. </a:t>
            </a:r>
          </a:p>
          <a:p>
            <a:r>
              <a:rPr lang="en-US" dirty="0"/>
              <a:t>When we need a particular loop, class, or function in our program, but don’t know what goes in it, we place the pass statement in it. </a:t>
            </a:r>
          </a:p>
          <a:p>
            <a:r>
              <a:rPr lang="en-US" dirty="0"/>
              <a:t>It is a null statement. </a:t>
            </a:r>
          </a:p>
          <a:p>
            <a:r>
              <a:rPr lang="en-US" dirty="0"/>
              <a:t>The interpreter does not ignore it, but it performs a no-operation (NOP). </a:t>
            </a:r>
          </a:p>
          <a:p>
            <a:r>
              <a:rPr lang="en-US" dirty="0"/>
              <a:t>It is used to fill indented space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529BC4-474C-F02E-4A8A-FF00EFC759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156" y="5132933"/>
            <a:ext cx="3033023" cy="1044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598545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9E894-5A93-5EE4-39C1-F9C3F1929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390F2F-48F3-D276-DAA0-54FC0DAE12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a program to check whether entered number if prime or not.</a:t>
            </a:r>
          </a:p>
          <a:p>
            <a:r>
              <a:rPr lang="en-US" dirty="0"/>
              <a:t>Write a program to print all the prime numbers from 5 to 50.</a:t>
            </a:r>
          </a:p>
          <a:p>
            <a:r>
              <a:rPr lang="en-US" dirty="0"/>
              <a:t>Print following pattern: 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Find power of x raised to y from user input.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E1D034-7F94-8BEA-D688-980ABD334C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948" y="3265404"/>
            <a:ext cx="1088465" cy="1558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2196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E5D53-8BC0-6195-21C1-82CD7A957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078" y="4098139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Thank you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61A047-CEF6-E1EC-B6CC-F1F67A767B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0915" y="1198155"/>
            <a:ext cx="3406597" cy="3406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60654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1288</Words>
  <Application>Microsoft Office PowerPoint</Application>
  <PresentationFormat>Widescreen</PresentationFormat>
  <Paragraphs>142</Paragraphs>
  <Slides>52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6" baseType="lpstr">
      <vt:lpstr>Arial</vt:lpstr>
      <vt:lpstr>Calibri</vt:lpstr>
      <vt:lpstr>Calibri Light</vt:lpstr>
      <vt:lpstr>Office Theme</vt:lpstr>
      <vt:lpstr>Python : Decision Making and Looping   Compiled By Madalane Oscar</vt:lpstr>
      <vt:lpstr>Decision Making Statement</vt:lpstr>
      <vt:lpstr>if-elif-else</vt:lpstr>
      <vt:lpstr>if-else</vt:lpstr>
      <vt:lpstr>if-elif-else</vt:lpstr>
      <vt:lpstr>Condition in if-else</vt:lpstr>
      <vt:lpstr>Exercise</vt:lpstr>
      <vt:lpstr>Nesting of if-else</vt:lpstr>
      <vt:lpstr>Example:</vt:lpstr>
      <vt:lpstr>Example: </vt:lpstr>
      <vt:lpstr>Solution:</vt:lpstr>
      <vt:lpstr>Using ‘and’ and ‘or’</vt:lpstr>
      <vt:lpstr>Repeatable elif</vt:lpstr>
      <vt:lpstr>Solution</vt:lpstr>
      <vt:lpstr>Another way</vt:lpstr>
      <vt:lpstr>Creating menu based programs</vt:lpstr>
      <vt:lpstr>Solution:</vt:lpstr>
      <vt:lpstr>Exercises</vt:lpstr>
      <vt:lpstr>Exercises</vt:lpstr>
      <vt:lpstr>Loops</vt:lpstr>
      <vt:lpstr>The while loop</vt:lpstr>
      <vt:lpstr>Example-1</vt:lpstr>
      <vt:lpstr>Exercise</vt:lpstr>
      <vt:lpstr>Solution</vt:lpstr>
      <vt:lpstr>Exercise</vt:lpstr>
      <vt:lpstr>Solution</vt:lpstr>
      <vt:lpstr>More about ‘while’</vt:lpstr>
      <vt:lpstr>Infinite loop</vt:lpstr>
      <vt:lpstr>Examples:</vt:lpstr>
      <vt:lpstr>The else statement</vt:lpstr>
      <vt:lpstr>Single statement while</vt:lpstr>
      <vt:lpstr>The ‘for’ loop</vt:lpstr>
      <vt:lpstr>while vs for loop</vt:lpstr>
      <vt:lpstr>Examples:</vt:lpstr>
      <vt:lpstr>More on ‘for’ loop</vt:lpstr>
      <vt:lpstr>The range( ) function</vt:lpstr>
      <vt:lpstr>Using range( ) function</vt:lpstr>
      <vt:lpstr>The range( ) decrement operation</vt:lpstr>
      <vt:lpstr>Iterating through sequence</vt:lpstr>
      <vt:lpstr>Collection of strings</vt:lpstr>
      <vt:lpstr>The else statement</vt:lpstr>
      <vt:lpstr>Example:</vt:lpstr>
      <vt:lpstr>Example:</vt:lpstr>
      <vt:lpstr>Example:</vt:lpstr>
      <vt:lpstr>Exercises</vt:lpstr>
      <vt:lpstr>Nesting of loops</vt:lpstr>
      <vt:lpstr>Nesting of loops</vt:lpstr>
      <vt:lpstr>The ‘break’ statement</vt:lpstr>
      <vt:lpstr>The ‘continue’ statement</vt:lpstr>
      <vt:lpstr>The ‘pass’ statement</vt:lpstr>
      <vt:lpstr>Exercises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Oscar Siyabonga Madalane</dc:creator>
  <cp:lastModifiedBy>Oscar Siyabonga Madalane</cp:lastModifiedBy>
  <cp:revision>1</cp:revision>
  <dcterms:created xsi:type="dcterms:W3CDTF">2025-11-05T21:46:41Z</dcterms:created>
  <dcterms:modified xsi:type="dcterms:W3CDTF">2025-11-05T22:47:15Z</dcterms:modified>
</cp:coreProperties>
</file>